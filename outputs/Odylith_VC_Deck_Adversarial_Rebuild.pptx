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b8ccda6344511" /><Relationship Type="http://schemas.openxmlformats.org/officeDocument/2006/relationships/extended-properties" Target="/docProps/app.xml" Id="R7af254ec3b144b6e" /><Relationship Type="http://schemas.openxmlformats.org/officeDocument/2006/relationships/officeDocument" Target="/ppt/presentation.xml" Id="Rae33e467d107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05665a87e4112"/>
  </p:sldMasterIdLst>
  <p:notesMasterIdLst>
    <p:notesMasterId xmlns:r="http://schemas.openxmlformats.org/officeDocument/2006/relationships" r:id="Rfefb98d8f3ac45d6"/>
  </p:notesMasterIdLst>
  <p:sldIdLst>
    <p:sldId xmlns:r="http://schemas.openxmlformats.org/officeDocument/2006/relationships" id="256" r:id="R73fe4fffa928457d"/>
    <p:sldId xmlns:r="http://schemas.openxmlformats.org/officeDocument/2006/relationships" id="257" r:id="R077fa281356c4a2e"/>
    <p:sldId xmlns:r="http://schemas.openxmlformats.org/officeDocument/2006/relationships" id="258" r:id="Rc74866e414f24192"/>
    <p:sldId xmlns:r="http://schemas.openxmlformats.org/officeDocument/2006/relationships" id="259" r:id="Rd0b23b87718e4c7c"/>
    <p:sldId xmlns:r="http://schemas.openxmlformats.org/officeDocument/2006/relationships" id="260" r:id="R7e0a8963cac548ba"/>
    <p:sldId xmlns:r="http://schemas.openxmlformats.org/officeDocument/2006/relationships" id="261" r:id="R33dc7332b24a4e92"/>
    <p:sldId xmlns:r="http://schemas.openxmlformats.org/officeDocument/2006/relationships" id="262" r:id="Rd6d5e4bcc63048ec"/>
    <p:sldId xmlns:r="http://schemas.openxmlformats.org/officeDocument/2006/relationships" id="263" r:id="R7aee77b3b2ed4325"/>
    <p:sldId xmlns:r="http://schemas.openxmlformats.org/officeDocument/2006/relationships" id="264" r:id="R991df5bb5e0a4008"/>
    <p:sldId xmlns:r="http://schemas.openxmlformats.org/officeDocument/2006/relationships" id="265" r:id="Rf6eacc2f6ede4bf8"/>
    <p:sldId xmlns:r="http://schemas.openxmlformats.org/officeDocument/2006/relationships" id="266" r:id="Rd12c589e9d0340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393003c7214e40" /><Relationship Type="http://schemas.openxmlformats.org/officeDocument/2006/relationships/slideMaster" Target="/ppt/slideMasters/slideMaster1.xml" Id="R74505665a87e4112" /><Relationship Type="http://schemas.openxmlformats.org/officeDocument/2006/relationships/notesMaster" Target="/ppt/notesMasters/notesMaster1.xml" Id="Rfefb98d8f3ac45d6" /><Relationship Type="http://schemas.openxmlformats.org/officeDocument/2006/relationships/presProps" Target="/ppt/presProps.xml" Id="Rde4b11bc26f747a7" /><Relationship Type="http://schemas.openxmlformats.org/officeDocument/2006/relationships/tableStyles" Target="/ppt/tableStyles.xml" Id="Rb0651f1f134c4b39" /><Relationship Type="http://schemas.openxmlformats.org/officeDocument/2006/relationships/slide" Target="/ppt/slides/slide1.xml" Id="R73fe4fffa928457d" /><Relationship Type="http://schemas.openxmlformats.org/officeDocument/2006/relationships/slide" Target="/ppt/slides/slide2.xml" Id="R077fa281356c4a2e" /><Relationship Type="http://schemas.openxmlformats.org/officeDocument/2006/relationships/slide" Target="/ppt/slides/slide3.xml" Id="Rc74866e414f24192" /><Relationship Type="http://schemas.openxmlformats.org/officeDocument/2006/relationships/slide" Target="/ppt/slides/slide4.xml" Id="Rd0b23b87718e4c7c" /><Relationship Type="http://schemas.openxmlformats.org/officeDocument/2006/relationships/slide" Target="/ppt/slides/slide5.xml" Id="R7e0a8963cac548ba" /><Relationship Type="http://schemas.openxmlformats.org/officeDocument/2006/relationships/slide" Target="/ppt/slides/slide6.xml" Id="R33dc7332b24a4e92" /><Relationship Type="http://schemas.openxmlformats.org/officeDocument/2006/relationships/slide" Target="/ppt/slides/slide7.xml" Id="Rd6d5e4bcc63048ec" /><Relationship Type="http://schemas.openxmlformats.org/officeDocument/2006/relationships/slide" Target="/ppt/slides/slide8.xml" Id="R7aee77b3b2ed4325" /><Relationship Type="http://schemas.openxmlformats.org/officeDocument/2006/relationships/slide" Target="/ppt/slides/slide9.xml" Id="R991df5bb5e0a4008" /><Relationship Type="http://schemas.openxmlformats.org/officeDocument/2006/relationships/slide" Target="/ppt/slides/slide10.xml" Id="Rf6eacc2f6ede4bf8" /><Relationship Type="http://schemas.openxmlformats.org/officeDocument/2006/relationships/slide" Target="/ppt/slides/slide11.xml" Id="Rd12c589e9d03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246dd6aa444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7c9371065648c6" /><Relationship Type="http://schemas.openxmlformats.org/officeDocument/2006/relationships/notesMaster" Target="/ppt/notesMasters/notesMaster1.xml" Id="Rd8fe842c31dc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7fd973c8244c5" /><Relationship Type="http://schemas.openxmlformats.org/officeDocument/2006/relationships/notesMaster" Target="/ppt/notesMasters/notesMaster1.xml" Id="Rd771509018dc44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3f321944bf4c53" /><Relationship Type="http://schemas.openxmlformats.org/officeDocument/2006/relationships/notesMaster" Target="/ppt/notesMasters/notesMaster1.xml" Id="R47f24139338b47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7d87b961f24117" /><Relationship Type="http://schemas.openxmlformats.org/officeDocument/2006/relationships/notesMaster" Target="/ppt/notesMasters/notesMaster1.xml" Id="Rc1692caafb63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81b14c48e14826" /><Relationship Type="http://schemas.openxmlformats.org/officeDocument/2006/relationships/notesMaster" Target="/ppt/notesMasters/notesMaster1.xml" Id="Ra278d2f0ac43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d77abd1744bd4" /><Relationship Type="http://schemas.openxmlformats.org/officeDocument/2006/relationships/notesMaster" Target="/ppt/notesMasters/notesMaster1.xml" Id="Rbbc2cfaa2dd4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b70ae87c2d487d" /><Relationship Type="http://schemas.openxmlformats.org/officeDocument/2006/relationships/notesMaster" Target="/ppt/notesMasters/notesMaster1.xml" Id="Rfadfb0b4b4bb4b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d2ac0deaf4465" /><Relationship Type="http://schemas.openxmlformats.org/officeDocument/2006/relationships/notesMaster" Target="/ppt/notesMasters/notesMaster1.xml" Id="R462f4c9ccc60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99ccb9ff0847bb" /><Relationship Type="http://schemas.openxmlformats.org/officeDocument/2006/relationships/notesMaster" Target="/ppt/notesMasters/notesMaster1.xml" Id="Rc51faf8e59ed46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b6d338bf874a20" /><Relationship Type="http://schemas.openxmlformats.org/officeDocument/2006/relationships/notesMaster" Target="/ppt/notesMasters/notesMaster1.xml" Id="R3359b33e51a949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7517adeac4e23" /><Relationship Type="http://schemas.openxmlformats.org/officeDocument/2006/relationships/notesMaster" Target="/ppt/notesMasters/notesMaster1.xml" Id="R3728e830b34b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230359b79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2393d5ea44e0c" /><Relationship Type="http://schemas.openxmlformats.org/officeDocument/2006/relationships/slideLayout" Target="/ppt/slideLayouts/slideLayout1.xml" Id="R971c75c10ac6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c75c10ac6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482ef93154d5c" /><Relationship Type="http://schemas.openxmlformats.org/officeDocument/2006/relationships/notesSlide" Target="/ppt/notesSlides/notesSlide1.xml" Id="R73b7b7e7c1d9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e9b9b70d464f" /><Relationship Type="http://schemas.openxmlformats.org/officeDocument/2006/relationships/notesSlide" Target="/ppt/notesSlides/notesSlide2.xml" Id="R3d9d75d128d0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7257ab2740e9" /><Relationship Type="http://schemas.openxmlformats.org/officeDocument/2006/relationships/notesSlide" Target="/ppt/notesSlides/notesSlide3.xml" Id="Rd3606c75d95c4e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255ac9a6845d4" /><Relationship Type="http://schemas.openxmlformats.org/officeDocument/2006/relationships/notesSlide" Target="/ppt/notesSlides/notesSlide4.xml" Id="Rb541c8bd2f6f4b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ed2103aaf41b0" /><Relationship Type="http://schemas.openxmlformats.org/officeDocument/2006/relationships/notesSlide" Target="/ppt/notesSlides/notesSlide5.xml" Id="R79fe955ba9ca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38fb27184a85" /><Relationship Type="http://schemas.openxmlformats.org/officeDocument/2006/relationships/notesSlide" Target="/ppt/notesSlides/notesSlide6.xml" Id="R7ab6118fb56244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398d71b60489d" /><Relationship Type="http://schemas.openxmlformats.org/officeDocument/2006/relationships/notesSlide" Target="/ppt/notesSlides/notesSlide7.xml" Id="R5e69a70e7225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d87530ec64445" /><Relationship Type="http://schemas.openxmlformats.org/officeDocument/2006/relationships/notesSlide" Target="/ppt/notesSlides/notesSlide8.xml" Id="Rf4aac67b7f1744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d773c874642aa" /><Relationship Type="http://schemas.openxmlformats.org/officeDocument/2006/relationships/notesSlide" Target="/ppt/notesSlides/notesSlide9.xml" Id="Red581707d58d41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9a2d5e26b4d0d" /><Relationship Type="http://schemas.openxmlformats.org/officeDocument/2006/relationships/image" Target="/ppt/media/image.jpeg" Id="R22df1114ad0341d0" /><Relationship Type="http://schemas.openxmlformats.org/officeDocument/2006/relationships/notesSlide" Target="/ppt/notesSlides/notesSlide10.xml" Id="R13fd7f428616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d6f31874f43d3" /><Relationship Type="http://schemas.openxmlformats.org/officeDocument/2006/relationships/notesSlide" Target="/ppt/notesSlides/notesSlide11.xml" Id="R0f3ea2910225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6066A-05CD-45D9-A5E3-6E2C30BA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D9BE7-9F93-4934-91D4-8A86C0F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ODYLITH / SEED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7B20-7D0D-41C9-B307-34D7B259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The execution layer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for valid enterprise-agent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BEA4-1A28-4B3A-91A6-2610AAF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Ground the task. Decide whether to act. Constrain execution. Verify the result.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85800" y="504825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A5D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6A7B2-6BF0-494C-9679-BCCA3944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rPr>
              <a:t>DEMONSTRATED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7CD11-2BFA-4873-8104-7410164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Repository grounding, write admission,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execution contracts, and verification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286500" y="504825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71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CB2F1-B62E-417F-970E-95802AB3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THIS 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79666-9418-4B68-8A13-9ED87FBC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Cross-provider allocation,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controlled replay, and adaptive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8B456-0ABA-446F-9A3D-C6EFD77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$2M  ·  12–18 MONTHS</a:t>
            </a:r>
          </a:p>
        </p:txBody>
      </p:sp>
    </p:spTree>
    <p:extLst>
      <p:ext uri="{BB962C8B-B14F-4D97-AF65-F5344CB8AC3E}">
        <p14:creationId xmlns:p14="http://schemas.microsoft.com/office/powerpoint/2010/main" val="306525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8E9A2-1EEA-4FBE-A46F-51C017C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9DE27-A763-4A59-84EB-364C421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Model alpha decays; enterprise performance is conditional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CBBB9-8B1C-4DEE-BA11-EBDC74C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F462C-EBB5-4CBD-95F6-1F1ACD81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AF83-00A8-4F88-AC18-FD09CA4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No universal winner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94DFF-443B-4C5A-96BA-95C369AE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Task fit, cost, latency, reliability, tools, governance, and risk create different winners.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133850" y="2238375"/>
            <a:ext cx="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B2138-D88D-4962-BE09-DB84627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F1BD3-7889-4747-B253-7358547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Every release reprices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E6F7B-AF39-45D5-9DD9-C9EEC145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New checkpoints, prices, and provider behavior invalidate static enterprise defaults.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810500" y="2238375"/>
            <a:ext cx="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81672-1BDC-48E8-AD40-E5486B48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22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810F0-7AA6-48DD-B78F-D048FA9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Agents multiply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255C0-B358-48BA-81AF-F15AA75C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Long trajectories repeat allocation decisions across coupled steps, retries, tools, and recovery.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0159-DEC7-45A6-8F8A-CCD6938F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ABE7C-20B2-4FBA-88AA-7194D954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C4A1F-8473-45D7-8104-BCF417D3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00650"/>
            <a:ext cx="871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Durable value migrates from owning a temporary model lead to controlling verified execution inside real 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B6893-2C18-406F-8A5A-24D5ED1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rPr>
              <a:t>Founder thesis: “The Half-Life of Model Alpha,” CELL/Substack, 23 Jul 2026 · Thesis, not customer evidence.</a:t>
            </a:r>
          </a:p>
        </p:txBody>
      </p:sp>
    </p:spTree>
    <p:extLst>
      <p:ext uri="{BB962C8B-B14F-4D97-AF65-F5344CB8AC3E}">
        <p14:creationId xmlns:p14="http://schemas.microsoft.com/office/powerpoint/2010/main" val="725536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307A7-1442-49B0-B942-B3B393E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7F64-5B82-47A0-8B45-06DDF4F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The enterprise unit is cost per valid outcome—not cost per token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4E5AF-FF39-4A60-A369-0502CB5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CBB6D-60F3-42AF-84BC-52CDDF5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TOTAL COST TO REACH A VALID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9E546-3C7E-419F-9372-AA9F4E7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valid outcomes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85800" y="35337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0109D-11C5-46FE-9C87-D26518BD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rPr>
              <a:t>cost per valid outcome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534150" y="2114550"/>
            <a:ext cx="0" cy="2914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F4795-A0AD-4B3C-A1AD-5A231ECA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EDC0A-3190-4901-92CF-863D28E1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Model calls and tokens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991350" y="2600325"/>
            <a:ext cx="434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F52FF-94AD-4310-A8FC-7433753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67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88957-E2E3-473E-B0B7-ADFABB3E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70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Candidate paths and reasoning depth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991350" y="3314700"/>
            <a:ext cx="434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340CE-89F2-4D92-9EEA-ADAF211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81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37E38-8D4F-4BA2-BB1C-CEC41FCC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Tools, state changes, and retries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991350" y="4029075"/>
            <a:ext cx="434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25294-4A54-4606-A907-CC715FE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95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40151-C8F7-4B08-A0DD-B6F263B3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Tests, review, recovery, and escalation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991350" y="5162550"/>
            <a:ext cx="434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719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988B5-6946-470A-B729-08E20B6A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578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ECONOMIC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0A1A7-ED98-43C5-9FB1-A5B86BCF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054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Cheaper generation can fund more search, retries, tools, and verification when demand is elastic.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2DE44-3640-4BEC-8D47-9BF28BF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rPr>
              <a:t>Long-running-agent KPI: cost per successfully resolved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037443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CD28A-4643-41C3-A317-DE2F836B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6FF70-4407-4E1F-8285-98BB1E3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 router picks an endpoint. An execution layer owns the outcome.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96469-DDA6-48A4-8257-FB8CF85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0" y="2076450"/>
            <a:ext cx="0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F0D2E-1D34-446A-96A7-1117782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44235-B4DC-42A2-A539-4E57219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Selects a model or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16117-E048-4147-A729-629271B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• Optimizes request-level price, latency, or availability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• Fails over when an endpoint is unhealthy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• Records the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F5A5A-46D6-44E6-8657-472D4E9B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ODYLITH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812E0-444A-49BF-B5F3-B395A3A6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Controls the path to a valid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B47D5-58B5-4B15-869E-4DD796DA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861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• Grounds task and repository state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• Admits, suppresses, or constrains execution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• Verifies closure against contracts and validators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58F52-B8C7-44CE-8FC3-DD8BACB1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F7754-BC48-43C0-9BB8-ED50FD3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rPr>
              <a:t>DEMONSTRATED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B423E-5692-400A-86C5-D6A8FEB8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Ground · admit · constrain ·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8625F-7CF1-4167-89D1-31923B4D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62550"/>
            <a:ext cx="541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27AD1-5963-4E06-819B-DC8D118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24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ROUND MILESTONE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CE83C-DDDC-4E81-B0BA-8B53060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530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Compare policies · allocate providers · adapt</a:t>
            </a:r>
          </a:p>
        </p:txBody>
      </p:sp>
    </p:spTree>
    <p:extLst>
      <p:ext uri="{BB962C8B-B14F-4D97-AF65-F5344CB8AC3E}">
        <p14:creationId xmlns:p14="http://schemas.microsoft.com/office/powerpoint/2010/main" val="578472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39AC3-FE3D-49B9-8475-B7A45C3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C05F4-13B6-4844-B9B2-B20B05F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Software is the first market because correctness is executable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39BA3-ED95-4840-8451-6E91459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4AF0A-B736-46B0-AD06-FA1DA2D3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Repositories turn agent behavior into fast, objective outcome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61343-755E-439E-9FD2-3F39CAD3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GROUND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E5AA5-ABAB-42F6-AD0B-E4E983C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Executable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11B40-62FB-4494-82CA-77419B85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Compilation, tests, policy checks, replay, and deterministic no-op evidence.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133850" y="2667000"/>
            <a:ext cx="0" cy="2343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D6ADF-4E7D-4A2B-8A2C-27D9101F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FAILURE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EED46-AB28-408C-975B-15A4720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Real complexity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08601-294B-4207-8A3D-4515D94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Hidden dependencies, stale context, partial migrations, security boundaries, and conflicting truth.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7810500" y="2667000"/>
            <a:ext cx="0" cy="2343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E9274-3F59-4017-88B8-44A2C759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LEARNING SPEED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F0D06-D135-41A6-B73B-59A5FB84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Comparable outcomes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A3370-1569-47A4-BC8D-9EF2B5C4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Reproducible state makes competing execution policies measurable against the same task.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23BF9-01EC-4CD5-8660-304AF22F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B5D4C-325A-4228-9367-C27B33DF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DEMONSTRATED WEDGE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D4DC2-BB60-4544-8303-CBECBD6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34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Prevent wrong or unnecessary coding-agent execution before optimizing model choice.</a:t>
            </a:r>
          </a:p>
        </p:txBody>
      </p:sp>
    </p:spTree>
    <p:extLst>
      <p:ext uri="{BB962C8B-B14F-4D97-AF65-F5344CB8AC3E}">
        <p14:creationId xmlns:p14="http://schemas.microsoft.com/office/powerpoint/2010/main" val="543211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3BA3C-F1F9-42AF-AE35-1125359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A120A-70A2-451D-BE2D-815BF72F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Same Codex host. Same task definitions. Different execution policy.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C8349-5EB6-4530-99F1-7C06B20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CC00B-8317-412B-91CD-6E879AF9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INTERNAL PROVISIONAL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EDB7-FFC1-45DF-8C59-50F1C6A0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1717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4350" b="1" i="0">
                <a:solidFill>
                  <a:srgbClr val="171714"/>
                </a:solidFill>
                <a:latin typeface="SFMono-Regular"/>
                <a:ea typeface="SFMono-Regular"/>
                <a:cs typeface="SFMono-Regular"/>
              </a:rPr>
              <a:t>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5A56F-B65F-4DEC-B357-0A72710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scenario definitions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0FA8-3D5A-4355-AF14-D501BC2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One Odylith repository—not 82 independent customer observations.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133850" y="2400300"/>
            <a:ext cx="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18F9D-58EC-4FC8-AA1A-F4467E3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43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68/82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0E2BC-96D7-4609-8021-493CB08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no-op closures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4987C-196B-4641-8E3D-CAB4BF7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00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Odylith-on stopped before host invocation when declared validators proved no change was needed.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7810500" y="2400300"/>
            <a:ext cx="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36AFF-E5FF-4ED5-A7D5-B81D661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43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4/82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39B9E-23D0-4A09-BC5C-F8F9680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rows changed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CFDE6-D3B9-4F49-B58C-5277C51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00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The signal is write admission and unnecessary-work suppression—not routing lift.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57F5E-A912-4118-B96F-57977A6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6A30C-433D-4784-A7FE-399DD70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1D7A5D"/>
                </a:solidFill>
                <a:latin typeface="SFMono-Regular"/>
                <a:ea typeface="SFMono-Regular"/>
                <a:cs typeface="SFMono-Regular"/>
              </a:rPr>
              <a:t>WHAT IT SUPPORTS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0AB78-993C-44F3-9B7B-EDC6BFB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Grounding and write admission can change agent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9133A-2C35-47E3-8439-782F0D6E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541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990F4-ADEB-441B-81ED-23FCC6EC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WHAT IT DOES NOT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DAD4D-53B8-483E-9EBE-34829B77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102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0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Customer ROI, repeated external proof, or adaptive multi-provider routing.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F6E10-96DA-4670-A4ED-C035031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rPr>
              <a:t>Source: Odylith live benchmark snapshot, report 44f2a3d83d2c9975 · Same Codex proof host · Full methodology available in diligence.</a:t>
            </a:r>
          </a:p>
        </p:txBody>
      </p:sp>
    </p:spTree>
    <p:extLst>
      <p:ext uri="{BB962C8B-B14F-4D97-AF65-F5344CB8AC3E}">
        <p14:creationId xmlns:p14="http://schemas.microsoft.com/office/powerpoint/2010/main" val="2039091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CF737-1F60-4385-A1FF-C642B97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40EA8-1BDE-44B0-889A-4172EFA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Start with a 90-day proof around costly agent regressions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51114-DE06-4F23-9F2C-4334D57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5C268-B8A2-4DBC-A63C-2D80255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TARGET BUYER —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B2B0E-AEC3-4806-9F8A-030CE5FF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Head of AI Platform or VP Engineering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CTO / CIO economic buyer · CISO veto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33065-15EC-4F7B-87DE-BB580B1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PURCHASE TRIGGER —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B7111-7D76-4497-9B45-072AF8C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18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Model or provider change · agent regression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migration · cost pressure · security mandate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19317-B17A-4C2E-A8C9-1D58D51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DAYS 1–30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B7452-3696-4A4A-8830-DFFF33B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Instrument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AC31D-3EB3-4854-997A-B3412656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Read-only capture of work, cost, latency, repository state, and verifier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A8F96-C7FE-44D0-871F-CD199F2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53394-3F41-473C-995F-9613884C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DAYS 31–60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5A88B-9C48-4335-BBC6-FDA4C66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Shadow + replay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3609-AD51-4A42-88B1-5FF1D33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Compare representative alternatives without changing production traffic.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845BD-F322-437B-8DE2-95E68D5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16F7E-4639-438C-9C7C-976948ED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DAYS 61–90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EEACF-C647-462D-B296-7662F2F6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Canary + 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100AA-441F-4BED-A90D-30E73196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Controlled enforcement, rollback, and an economic-impact report against agreed gates.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32747-2421-4730-A6C0-6BBEBBB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115C7-C1C0-4BA9-A3A9-5B8D305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BUSINESS-MODEL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307C0-F60D-41AE-88E6-572244A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76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Annual platform fee + transparent usage · Customers retain provider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85254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1E938-D650-4972-AFDD-6DB004C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62702-624D-4667-BF52-E3E9442B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The moat is not logs. It is controlled counterfactual evidence.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4DF7C-F0EF-4FFE-A757-FD2AD1E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A6F29-9A80-4C7D-8E53-7FFB2152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RAW LOGS DECAY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DBD13-C2B5-44DC-86A3-ADCA7A0E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They observe only the selected action—and go stale as models, prompts, tools, repositories, and policies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7B8E-348F-4438-B80C-1FB0CBD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TELEMETRY ≠ DEFENSIBILITY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267200" y="209550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D1870-FC20-413D-8362-B2A0027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A51FB-D3AC-4A28-B345-62E4E8F5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59F7D-55EB-489B-BB49-78CDF410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Permissioned live work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705350" y="2476500"/>
            <a:ext cx="641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22434-903F-4BDD-88C5-F3620670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72461-E533-4622-BBA5-3CCEBF9E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Replay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A0BE8-CBE8-4102-8D0B-32E1F55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Same environment, competing policies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705350" y="3124200"/>
            <a:ext cx="641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9B436-EB9E-48A3-802A-C2F533F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8482E-3E9A-4BB3-9381-0DA4898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FA61C-25C4-44F4-88DE-FDC10A72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Outcome receipts and limits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705350" y="3771900"/>
            <a:ext cx="641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087E1-9631-4250-A6C0-C8FAAD53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22576-4CC6-4799-B5C4-45FA7B4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Attribute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CBD9F-2781-41D6-B2B0-FAC4A26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9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Incremental lift, not anecdotes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705350" y="4419600"/>
            <a:ext cx="6419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8821D-1101-4C5C-8FD5-B556B955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67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1C61D-03D1-4507-B227-11D6DFD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Refresh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EB3AA-DBA1-43FA-AFD6-04005BF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Update before evidence goes stale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68507-A1DD-4D90-A996-C83C0F36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86400"/>
            <a:ext cx="641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0917F-CCEA-4DAF-8736-DACDFFDB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HYPOTHESIS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4EE40-BEE6-4154-82B3-63078A4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Permissioned access + counterfactual machinery compound allocation advantage.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43872-D5B9-4081-974E-E4C82D05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rPr>
              <a:t>Tenant-isolated by default; only explicitly permitted priors or templates transfer.</a:t>
            </a:r>
          </a:p>
        </p:txBody>
      </p:sp>
    </p:spTree>
    <p:extLst>
      <p:ext uri="{BB962C8B-B14F-4D97-AF65-F5344CB8AC3E}">
        <p14:creationId xmlns:p14="http://schemas.microsoft.com/office/powerpoint/2010/main" val="234489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259F8-0653-4182-B654-F7DCA4AB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ED6B9-FCA3-4429-B414-97108E02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Every new model expands supply; every agent step expands demand for control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980C1-4053-49B9-AE7D-86ADEFE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EF991-9F4C-42AD-821A-2077B18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MODEL SUPPLY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0273F-EE51-44B8-BC80-D41A75BB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42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providers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price points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tradeoffs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64508-8E57-49C5-8911-34DDE6E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FF6719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60602-236E-45F4-976F-A1A1B72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AGENT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F4153-6DD8-48C3-A549-C2C92CA1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steps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retries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More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CA9C2-06C0-410D-9BE1-77CCE02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3AE21-1788-4076-A91B-7A76D622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ALLOCATION 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00E37-E799-42D2-9E47-F26B5C0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job becomes a portfolio of conditional execution choices.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9A92C-9EDF-44D7-9536-2281290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12A54-F4F3-4237-98B9-B2F29254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72125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Software first. Expand only where outcomes can be verified.</a:t>
            </a:r>
          </a:p>
        </p:txBody>
      </p:sp>
    </p:spTree>
    <p:extLst>
      <p:ext uri="{BB962C8B-B14F-4D97-AF65-F5344CB8AC3E}">
        <p14:creationId xmlns:p14="http://schemas.microsoft.com/office/powerpoint/2010/main" val="753040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74610-C3EE-415A-8BC9-A864247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6B6B64"/>
                </a:solidFill>
                <a:latin typeface="SFMono-Regular"/>
                <a:ea typeface="SFMono-Regular"/>
                <a:cs typeface="SFMono-Regular"/>
              </a:rPr>
              <a:t>ODYLITH / INVESTOR CORE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50547-77BE-4156-8B9B-71036023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Freedom combines frontier-model depth with enterprise systems experience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85800" y="17430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402AD-765D-44FD-9CF4-BC5777C9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f1114ad0341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14550"/>
            <a:ext cx="3476625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A6C2D-EF0C-453F-B42D-DB38CFE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347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D2A9A-EA67-43AA-85A4-7EEF0D15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FREEDOM PREETHAM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4042D-B7BC-4295-9E4D-E33955D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SELECTED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17E5C-C214-43C1-A9BB-B056892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AI and enterprise-architecture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07245-4171-42DC-8A53-28ADC6B8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InMobi · Course Hero · NewScale · Centrata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762500" y="3476625"/>
            <a:ext cx="6362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16A20-3C6D-4886-AADA-55625D87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Three deep-technology startups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679E6-ACFD-4017-B128-E9CCFD9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Including Cognit.AI and Kena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762500" y="4724400"/>
            <a:ext cx="6362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F56CD-5DE8-4AFB-A363-E1FA975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RELEVANT OPERATING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58480-CA40-465C-9436-6CE4127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05425"/>
            <a:ext cx="636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AI research  ·  complex systems  ·  enterprise infrastructure  ·  commercial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CD6E4-485F-4879-8631-DE97D60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1">
                <a:solidFill>
                  <a:srgbClr val="9A9992"/>
                </a:solidFill>
                <a:latin typeface="Helvetica Neue"/>
                <a:ea typeface="Helvetica Neue"/>
                <a:cs typeface="Helvetica Neue"/>
              </a:rPr>
              <a:t>Roles and startup names from founder-supplied materials · Portrait: public CELL/Substack author profile.</a:t>
            </a:r>
          </a:p>
        </p:txBody>
      </p:sp>
    </p:spTree>
    <p:extLst>
      <p:ext uri="{BB962C8B-B14F-4D97-AF65-F5344CB8AC3E}">
        <p14:creationId xmlns:p14="http://schemas.microsoft.com/office/powerpoint/2010/main" val="1774950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89109-1EA6-4E72-82D7-E08EDC9A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0" b="1" i="0">
                <a:solidFill>
                  <a:srgbClr val="C94C14"/>
                </a:solidFill>
                <a:latin typeface="SFMono-Regular"/>
                <a:ea typeface="SFMono-Regular"/>
                <a:cs typeface="SFMono-Regular"/>
              </a:rPr>
              <a:t>ODYLITH / THE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06C2-D269-4BFF-A25C-BC2B324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54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$2M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0FECF-99BE-4221-B833-9E54DA33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239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buys three falsifiable proofs in 12–18 months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85800" y="19812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33C7F-2E1E-4BD5-B060-7CF86B88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2263-7AF8-4BA3-9EBB-A975E1C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Adaptive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50EA9-C44C-4B37-A9E0-9E7BA4B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Cross-provider allocation beats a frozen policy on preregistered external holdouts across repositories, providers, repetitions, and ablations.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133850" y="2457450"/>
            <a:ext cx="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1A9C7-3B07-4431-BE75-4DF60276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FDF31-2351-484F-BC5F-1BF251F2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9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Commercial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2B5C3-8FAE-4F96-BA6E-55944B3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05225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Five to eight substantive design partners and multiple repeatable paid deployments. A target—not present traction.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7810500" y="2457450"/>
            <a:ext cx="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AC7B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B4062-D3F1-49A4-BFF6-B1ADC7D5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1800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1D968-2CD1-45C9-943D-11927CE7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71714"/>
                </a:solidFill>
                <a:latin typeface="Helvetica Neue"/>
                <a:ea typeface="Helvetica Neue"/>
                <a:cs typeface="Helvetica Neue"/>
              </a:rPr>
              <a:t>Compounding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AFC17-1120-4F31-97D8-94C9784A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05225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6B64"/>
                </a:solidFill>
                <a:latin typeface="Helvetica Neue"/>
                <a:ea typeface="Helvetica Neue"/>
                <a:cs typeface="Helvetica Neue"/>
              </a:rPr>
              <a:t>Allocation quality improves against a frozen baseline over time without crossing tenant boundaries.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8AA75-658A-4FC8-A3B0-ED1B68F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65B40-C574-4F0A-B287-9364264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defRPr>
            </a:pPr>
            <a:r>
              <a:rPr sz="825" b="1" i="0">
                <a:solidFill>
                  <a:srgbClr val="FF6719"/>
                </a:solidFill>
                <a:latin typeface="SFMono-Regular"/>
                <a:ea typeface="SFMono-Regular"/>
                <a:cs typeface="SFMono-Regular"/>
              </a:rPr>
              <a:t>THE ROUND SUCCEEDS ONLY 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C38E2-5EF0-4EB3-8AE1-F94F62DD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62575"/>
            <a:ext cx="776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Odylith proves adaptive lift, repeatable purchase, and measurable compounding.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02F76-259F-4914-B41A-A5A04FE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0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Production baseline: verification · recovery · enterprise policy · security · canarying ·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48E7E-8525-406B-93F4-334F743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00" b="1" i="0">
                <a:solidFill>
                  <a:srgbClr val="9A9992"/>
                </a:solidFill>
                <a:latin typeface="SFMono-Regular"/>
                <a:ea typeface="SFMono-Regular"/>
                <a:cs typeface="SFMono-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9639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2026-07-23T21:14:59.1600000Z</dcterms:created>
  <dcterms:modified xsi:type="dcterms:W3CDTF">2026-07-23T21:14:59.1600000Z</dcterms:modified>
</coreProperties>
</file>